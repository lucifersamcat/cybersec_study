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2004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Ley No. 53-07  •  DICAT  •  Módulos 1 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Ciberseguridad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4F8EF7"/>
                </a:solidFill>
              </a:rPr>
              <a:t>y Marco Legal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República Dominicana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251960"/>
            <a:ext cx="41148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Introducción  ·  Ley 53-07  ·  DICAT  ·  Casos Prácticos  ·  Tareas Resueltas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Contenido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9436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94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143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Introducción a la Ciberseguridad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64208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Definición, pilares y conceptos clave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9436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594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80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Taller Práctico Resuelto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01568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3 escenarios de amenazas y vulnerabilidades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8056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59436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594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617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Glosario de Ciberseguridad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138928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15 términos esenciales definidos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00584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005840"/>
            <a:ext cx="59436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005840"/>
            <a:ext cx="594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143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Ley No. 53-07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664208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Delitos, penas e instituciones creadas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74320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743200"/>
            <a:ext cx="59436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743200"/>
            <a:ext cx="594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880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Módulo 2 — Prácticas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401568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Caso del profesor, Uber y Deepfake de voz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48056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480560"/>
            <a:ext cx="59436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480560"/>
            <a:ext cx="594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617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Casos Prácticos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138928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5 escenarios con preguntas resueltas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22860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MÓDULO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Introducción a la Ciberseguridad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Conceptos fundamentales y amenazas digitales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¿Qué es la Ciberseguridad?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"El cuidado y protección de la información, propia y de terceros, gestionada en dispositivos electrónicos como computadoras, redes y teléfonos."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06040"/>
            <a:ext cx="3749039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3749039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334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CONFIDENCIALIDAD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004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Solo acceden quienes están autorizados. La información privada permanece privada.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606040"/>
            <a:ext cx="3749039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606040"/>
            <a:ext cx="3749039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6334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DISPONIBILIDAD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004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977639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Garantizar el acceso a la información cuando se necesite, sin interrupciones.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606040"/>
            <a:ext cx="3749039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606040"/>
            <a:ext cx="3749039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6334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INTEGRIDAD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004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977639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La información es exacta, completa y no ha sido alterada sin autorización.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Amenazas vs. Vulnerabilidades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3035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303520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⚠  VULNERABILIDAD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Debilidad o fallo en un sistema que puede ser explotada: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Contraseñas débiles o reutilizadas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Software sin actualizar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7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Mala configuración del 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5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Falta de cifrado en comunicaciones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Errores de diseño en aplicaciones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914400"/>
            <a:ext cx="530352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914400"/>
            <a:ext cx="5303520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9144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⚡  AMENAZA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5087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Agente o evento capaz de explotar una vulnerabilidad: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Hackers y cibercriminales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43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Malware y ransomware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8327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Errores humanos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02335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Phishing / Vishing / SMShing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6634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Desastres naturales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063240"/>
            <a:ext cx="137160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3063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= RIESGO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22860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TALLER PRÁCTICO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Taller Práctico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Escenarios de amenazas — resueltos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Escenario 1 — Wi-Fi pública sin contraseña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📋 Juan se conecta a una red Wi-Fi gratuita en una cafetería para revisar su correo. Un atacante en la misma red intercepta su tráfico.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74519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4864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  VULNERABILIDAD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La red Wi-Fi carece de cifrado y autenticación. Cualquier persona conectada puede observar el tráfico de datos que circula por ella sin restricción alguna.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74519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4864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⚡  AMENAZA — MAN-IN-THE-MIDDLE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El atacante se posiciona entre Juan y el punto de acceso, interceptando correos, contraseñas y cualquier información transmitida sin cifrar.
Prevención: usar VPN, evitar Wi-Fi públicas para datos sensibles, preferir redes con contraseña.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Escenario 2 — Contraseña débil "12345"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Laura usa '12345' para todas sus cuentas. Un atacante la adivina y accede a sus perfiles.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54864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  VULNERABILIDADES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Contraseña débil y predecible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3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Reutilización en múltiples cuentas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Sin autenticación adicional (2FA)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4864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⚡  AMENAZA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Fuerza bruta y credential stuffing — uso de contraseñas filtradas en otras plataformas para acceder simultáneamente a todas las cuentas.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11430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🛡  MEDIDAS DE PROTECCIÓN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Contraseñas únicas y largas (+12 caracteres) con letras, números y símbolos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79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Activar autenticación de dos factores (2FA) en todas las cuentas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Usar un gestor de contraseñas para no reutilizar credenciales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Escenario 3 — Phishing por correo electrónico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Roberto recibe un correo de su 'banco' pidiendo actualizar datos. El enlace lleva a una página falsa que roba su información.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4864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  VULNERABILIDAD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Roberto no verifica la autenticidad del correo antes de actuar. Falta de conocimiento sobre señales de phishing.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⚡  AMENAZA — PHISHING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Suplantación de identidad del banco para robar credenciales financieras mediante una página web clonada idéntica a la original.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430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114300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94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🔍  ¿CÓMO DETECTAR UN CORREO FALSO?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Revisar el dominio del remitente — los bancos no usan Gmail ni dominios genéricos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646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No hacer clic en enlaces del correo — ingresar la URL directamente en el navegador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8581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Los bancos NUNCA piden credenciales por correo electrónico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• Buscar errores ortográficos, urgencia exagerada o diseño genérico en el mensaje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Glosario de Ciberseguridad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509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Malware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4358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Software malicioso que daña o infiltra sistemas sin autorización del usuario.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64207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64207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0078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Ransomware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1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Malware que cifra archivos y exige pago para devolver el acceso.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14015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414015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505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Firewall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43199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Sistema que controla el tráfico de red según reglas predefinidas de seguridad.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63824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63824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004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2FA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930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Autenticación de dos factores: requiere dos formas de verificar la identidad.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13631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913631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5020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Ingeniería 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4281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Manipulación psicológica para obtener información confidencial engañando personas.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66344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663440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7000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Phishing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926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Suplantación de entidad confiable vía correo para robar datos sensibles.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413248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413248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4498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Vishing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7424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Phishing realizado mediante llamadas telefónicas fraudulentas.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163055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6163055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19963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SMShing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922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Phishing realizado mediante mensajes de texto (SMS).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91440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914400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9509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Hacking ético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124358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Ataque autorizado por el propietario para detectar vulnerabilidades.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1664207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1664207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170078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Pentesting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1993391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Prueba de penetración para evaluar la seguridad de un sistema.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2414015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2414015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24505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VPN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2743199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Red privada virtual que cifra la conexión a internet protegiendo la privacidad.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163824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3163824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2004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Cifrado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34930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Convierte información en formato ilegible para protegerla de accesos no autorizados.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3913631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63640" y="3913631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395020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Backdoor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424281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Acceso oculto instalado por un atacante para reingresar sin ser detectado.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4663440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63640" y="4663440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47000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Zero-day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49926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Vulnerabilidad desconocida explotada antes de que exista un parche de seguridad.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5413248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63640" y="5413248"/>
            <a:ext cx="73152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54498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Media dropping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57424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Dejar dispositivos (USB) en lugares públicos para que alguien los conecte.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Videos Instructivos del Módulo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749039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3749039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▶  Video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¿Qué es la ciberseguridad?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Protección de info en dispositivos electrónicos.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Tres pilares: Confidencialidad, Disponibilidad e Integridad.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Trabajo preventivo anticipando amenazas.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634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Roles: hacking ético, pentesting, concienciación.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4067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Conclusión: protege el activo más importante.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914400"/>
            <a:ext cx="3749039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914400"/>
            <a:ext cx="3749039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▶  Video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600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Amenazas vs. Vulnerabilidades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3317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Vulnerabilidad = debilidad en el sistema.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31089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Amenaza = agente que la explota.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Sin amenaza la vulnerabilidad no se explota.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46634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Riesgo = Amenaza + Vulnerabilidad + Impacto.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544067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Reducir vulnerabilidades baja el riesgo total.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4464" y="914400"/>
            <a:ext cx="3749039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84464" y="914400"/>
            <a:ext cx="3749039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▶  Video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1600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La ciberseguridad, tarea de todos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3317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Phishing: reportar correos fraudulentos.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31089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Vishing: identificar llamadas falsas.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Seguridad física: equipo desbloqueado = riesgo.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46634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Media dropping: no conectar USB desconocidos.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5440679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La ciberseguridad es responsabilidad de todos.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22860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MARCO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Ley No. 53-07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Crímenes y Delitos de Alta Tecnología — 2007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Delitos contra la Confidencialidad e Integridad  (Arts. 5–11)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05156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Art.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0698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Códigos de Acceso / Clonación de Dispositivos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088136"/>
            <a:ext cx="20116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108813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1 – 10 años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1152144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105156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83080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Art.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8928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Acceso Ilícito a Sistemas Informáticos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911096"/>
            <a:ext cx="20116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91109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3 meses – 1 año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06040"/>
            <a:ext cx="11521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606040"/>
            <a:ext cx="105156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606040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Art.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7157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Acceso para Servicios a Terceros sin Autorización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2734056"/>
            <a:ext cx="20116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73405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3 meses – 1 año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29000"/>
            <a:ext cx="1152144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429000"/>
            <a:ext cx="105156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429000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Art.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5387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Dispositivos Fraudulentos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3557016"/>
            <a:ext cx="20116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35570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1 – 3 años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251960"/>
            <a:ext cx="11521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251960"/>
            <a:ext cx="105156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251960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Art.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36168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Interceptación de Datos o Señales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4379976"/>
            <a:ext cx="20116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437997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1 – 3 años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074920"/>
            <a:ext cx="1152144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5074920"/>
            <a:ext cx="105156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074920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Art.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51846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Daño o Alteración de Datos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5202936"/>
            <a:ext cx="20116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520293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3 meses – 3 años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897880"/>
            <a:ext cx="11521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897880"/>
            <a:ext cx="105156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897880"/>
            <a:ext cx="1051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Art.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6007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Sabotaje Informático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6025896"/>
            <a:ext cx="20116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602589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3 meses – 2 años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Delitos de Contenido y Contra la Nación  (Arts. 12–28)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Delitos de Contenido (Arts. 12–24)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7589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0972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Art.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Obtención ilícita de fondos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27048"/>
            <a:ext cx="14173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2704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3 – 10 años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67128"/>
            <a:ext cx="75895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167128"/>
            <a:ext cx="10972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167128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Art.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2585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Estafa electrónica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276856"/>
            <a:ext cx="14173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76856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3 meses – 7 años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16936"/>
            <a:ext cx="7589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16936"/>
            <a:ext cx="10972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916936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Art.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0083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Chantaje digital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026664"/>
            <a:ext cx="14173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2666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1 – 5 años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66744"/>
            <a:ext cx="75895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666744"/>
            <a:ext cx="10972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666744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Art. 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758183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Robo de identidad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776472"/>
            <a:ext cx="14173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76472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3 meses – 7 años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416552"/>
            <a:ext cx="7589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416552"/>
            <a:ext cx="10972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416552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Art. 21-22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5079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Difamación e injuria digital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526280"/>
            <a:ext cx="14173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526280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3 meses – 1 año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166359"/>
            <a:ext cx="75895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166359"/>
            <a:ext cx="10972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166359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Art. 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25779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Pornografía infantil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276088"/>
            <a:ext cx="1417320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27608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2 – 4 años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914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Contra la Nación y Terrorismo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141732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0" y="1417320"/>
            <a:ext cx="347472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Art. 27 — Sabotaje / Espionaje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19659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</a:rPr>
              <a:t>15 a 30 años
de reclusión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347472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0" y="3474720"/>
            <a:ext cx="347472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3474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Art. 28 — Terrorismo Digital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</a:rPr>
              <a:t>20 a 30 años
de reclusión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126480"/>
            <a:ext cx="1152144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1447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⚠  Personas morales también responden: multas, disolución o clausura (Art. 60)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Instituciones Creadas por la Ley 53-07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5778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DICAT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Depto. de Investigación de Crímenes y
Delitos de Alta Tecnología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13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Dependencia: Policía Nacional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Investigar y perseguir delitos tecnológicos. Punto de contacto en red internacional 24/7.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9476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5577840" cy="5669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9476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DIDI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5312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División de Investigación de
Delitos Informáticos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480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Dependencia: Departamento Nacional de Investigaciones (DNI)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5321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Casos contra la nación, el Estado y la seguridad nacional.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96012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960120"/>
            <a:ext cx="5577840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96012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CICDAT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61848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Comisión Interinstitucional contra
Crímenes y Delitos de Alta Tecnología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13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Dependencia: Presidida por el Procurador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974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Coordinación interinstitucional, política nacional y cooperación internacional.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94760"/>
            <a:ext cx="5577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794760"/>
            <a:ext cx="5577840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79476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PEDATEC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5312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Procuraduría Especializada contra
Crímenes y Delitos de Alta Tecnología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1480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563EB"/>
                </a:solidFill>
              </a:rPr>
              <a:t>Dependencia: Ministerio Público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5321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Documentar y judicializar los casos investigados por el DICAT y la DIDI.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Hitos Históricos y Protocolo de Denuncia Ciudadana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7315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1556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Primera investigación oficial por delito informático en la República Dominicana.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7315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6712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Promulgación de la Ley 53-07 y creación formal del DICAT y la CICDAT.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7315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1868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Cooperación con la Guardia Civil de España — primer caso internacional (extorsión).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51959"/>
            <a:ext cx="7315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25195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702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Ratificación del Convenio de Budapest — RD fue el 1er país del hemisferio.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03519"/>
            <a:ext cx="7315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30351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321807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Proyecto República Digital y participación en GLACY+ (Consejo de Europa / UE).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914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Protocolo de Denuncia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463040"/>
            <a:ext cx="4663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463040"/>
            <a:ext cx="548640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1463040"/>
            <a:ext cx="5486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53619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Preservar evidencia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9659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No borrar mensajes. Tomar capturas de pantalla.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2761488"/>
            <a:ext cx="4663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2761488"/>
            <a:ext cx="548640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761488"/>
            <a:ext cx="5486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83464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Portal Digital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2644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Denuncia virtual o anónima — Policía Nacional.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4059935"/>
            <a:ext cx="4663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4059935"/>
            <a:ext cx="548640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4059935"/>
            <a:ext cx="5486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133087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Presencial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562855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Ante el DICAT o cualquier fiscalía del MP.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5358383"/>
            <a:ext cx="4663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5358383"/>
            <a:ext cx="548640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5358383"/>
            <a:ext cx="5486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54315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Sistema 311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861303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Quejas administrativas de delitos tecnológicos.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22860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MÓDULO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Módulo 2 — Prácticas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Análisis de casos reales y simulados bajo la Ley 53-07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Práctica 1 — El correo del profesor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Un estudiante accede sin autorización al correo institucional de un profesor, descarga exámenes, modifica información y comparte los archivos.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749039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749039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Delitos (Ley 53-07)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Art. 6 — Acceso ilícito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Art. 6 Párr. I — Revelación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43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Art. 10 — Alteración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Art. 7 — Acceso para terceros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828800"/>
            <a:ext cx="3749039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749039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82880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Consecuencias Legales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423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1 a 3 años de prisión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3832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Multa económica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343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Expulsión de la institución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53035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Cómplices: misma sanción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4464" y="1828800"/>
            <a:ext cx="3749039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4" y="1828800"/>
            <a:ext cx="3749039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182880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Medidas de Prevención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2423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Contraseñas únicas + 2FA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33832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Cerrar sesión en equipos compartidos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4343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Capacitación en seguridad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53035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Monitoreo de accesos por TI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Práctica 2 — Caso Real: Hackeo a Uber (2022)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Un joven de 18 años infiltró los sistemas de Uber usando ingeniería social: se hizo pasar por soporte de TI y convenció a un empleado de entregar sus credenciales de acceso.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91440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Tipo de Delito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32304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Ingeniería social + acceso ilícito a sistemas internos, interceptación de datos confidenciales de empleados y acceso a infraestructura crítica de la empresa.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9144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343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Relación Ley 53-07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64024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Art. 6 (acceso ilícito), Art. 6 Párr. I (revelación de datos), Art. 9 (interceptación de datos pertenecientes a otra entidad).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91440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Consecuencias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432304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Arrestado en el Reino Unido. Declarado culpable en 2023. Enfrentó años de prisión por hackeo y fraude informático bajo la legislación británica.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25196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251960"/>
            <a:ext cx="91440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3434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Lección + Prevención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64024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Capacitar en ingeniería social. MFA obligatorio. Política de privilegio mínimo. Ninguna tecnología protege si el factor humano falla.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Práctica 3 — Caso Creado: Fraude con Deepfake de Voz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Sofía, contadora, recibe una llamada con la voz clonada de su jefe (IA). Le pide urgentemente transferir RD$800,000. Al hacerlo, el dinero desaparece en cuentas en el extranjero. Los atacantes usaron audios públicos del director para clonar su voz.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4864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Delitos — Ley 53-07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Art. 14: Obtención ilícita de fondos — 3 a 10 años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8152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Art. 15: Estafa electrónica — 3 meses a 7 años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• Art. 17: Robo de identidad — 3 meses a 7 años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54864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Plan de Prevención (4 acciones)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7860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1. Verificación doble para transferencias grandes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8152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2. Capacitación sobre deepfakes de voz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8444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3. Palabra clave secreta entre directivos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8736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4. Múltiples aprobadores para montos altos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51960"/>
            <a:ext cx="11430000" cy="2286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159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💡  Reflexión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Estos delitos son cada vez más comunes porque la tecnología avanza más rápido que la conciencia de las personas. La ciberseguridad no es solo un asunto del departamento de TI — es responsabilidad de todos. Como ciudadano digital debemos cuestionar lo urgente, verificar antes de actuar y mantenernos informados.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22860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CASOS PRÁCTICOS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Casos Prácticos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5 escenarios con preguntas resueltas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Casos 1 y 2 — Privacidad y Fraude Electrónico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4864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Caso 1 — Acceso Ilícito — 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Juan accede a la cuenta de Instagram de su ex-pareja usando una contraseña guardada. Publica contenido íntimo y cambia la contraseña.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33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Delitos aplicables: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992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Art. 6 (Acceso ilícito)  ·  Art. 10 (Daño de datos)  ·  Art. 19 (Invasión de privacidad)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11880"/>
            <a:ext cx="5486400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30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Respuesta clave: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14800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¿Tener la contraseña lo hace legal? NO. Usar credenciales ajenas sin autorización expresa es acceso ilícito sin importar cómo se obtuvo la clave. Pena: 3 meses a 3 años + multa.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914400"/>
            <a:ext cx="548640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914400"/>
            <a:ext cx="5486400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91440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Caso 2 — Phishing Bancario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53619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Pedro ingresa sus credenciales en una página web falsa del banco recibida por correo. Horas después su cuenta es vaciada con transacciones no autorizadas.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33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Delitos aplicables: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992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Art. 15 (Estafa electrónica)  ·  Art. 14 (Obtención ilícita de fondos)  ·  Art. 8 (Dispositivos fraudulentos)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611880"/>
            <a:ext cx="5486400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30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Respuesta clave: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114800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Errores de Pedro: clic en enlace no verificado, no revisó el dominio, ingresó datos sin validar autenticidad. Prevención: nunca ingresar credenciales desde enlaces de correo. Activar 2FA.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Casos 3, 4 y 5 — Identidad, Sistema y Privacidad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3749039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3749039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Caso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Suplantación
y Difamación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69164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Estudiante crea cuenta falsa con nombre y foto de un profesor, publicando ofensas e información falsa.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7889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Delitos: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090672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Art. 17 (Robo identidad)
Art. 21 (Difamación)
Art. 22 (Injuria pública)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023360"/>
            <a:ext cx="3749039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4133087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Respuesta: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462272"/>
            <a:ext cx="3520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Cómo demostrar: IP de registro, historial de dispositivos y metadatos solicitados con orden judicial.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914400"/>
            <a:ext cx="3749039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914400"/>
            <a:ext cx="3749039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Caso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Sistema Escolar
Hackeado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169164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Carlos explota una vulnerabilidad del sistema académico para cambiar calificaciones a cambio de dinero.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27889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Delitos: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3090672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Art. 6 (Acceso ilícito)
Art. 10 (Alteración datos)
Art. 11 (Sabotaje)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4023360"/>
            <a:ext cx="3749039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4133087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Respuesta: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7" y="4462272"/>
            <a:ext cx="3520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Descubrir la falla NO autoriza explotarla. Debió reportarla al TI. Pagadores son cómplices (Art. 6).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914400"/>
            <a:ext cx="3749039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19" y="914400"/>
            <a:ext cx="3749039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Caso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Difusión sin
Consentimiento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7" y="169164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La pareja de Ana difunde fotos íntimas en WhatsApp y redes sociales causando daño emocional y social.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7" y="27889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Delitos: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7" y="3090672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Art. 19 (Invasión privacidad)
Art. 21 (Difamación)
Art. 23 (Atentado sexual si aplica)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4023360"/>
            <a:ext cx="3749039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4133087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Respuesta: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4462272"/>
            <a:ext cx="35204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No es 'problema personal' — es un delito. Denuncia inmediata al DICAT y preservar toda evidencia.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36576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1051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EF7"/>
                </a:solidFill>
              </a:rPr>
              <a:t>Amenaza cotidiana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128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Phishing, redes inseguras y contraseñas débiles son las principales puertas de entrada al cibercrimen.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35808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358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17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EF7"/>
                </a:solidFill>
              </a:rPr>
              <a:t>La Ley 53-07 protege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19856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Marco legal sólido que sanciona desde el acceso ilícito hasta el terrorismo digital con penas de hasta 30 años.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242816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24281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245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EF7"/>
                </a:solidFill>
              </a:rPr>
              <a:t>Instituciones especializadas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26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DICAT, DIDI, CICDAT y PEDATEC garantizan la persecución del cibercrimen en la República Dominicana.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449823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449823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431536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EF7"/>
                </a:solidFill>
              </a:rPr>
              <a:t>Rol del ciudadano digital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833871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Denunciar, verificar antes de actuar y mantenerse informado es responsabilidad de todos los ciudadanos.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Ciberseguridad y Marco Legal RD  •  Ley No. 53-07  •  DICAT  •  Módulos 1 y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